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秒：说出使用者（家庭能源研究小组）、真实输入（Kaggle/UCI 一户家庭分钟记录→2501 小时）、输出（下一小时平均 kW）。点明这是时间序列回归，必须保持先后顺序，并说明产品边界（单户、不控制电器）。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秒：解释三个核心概念——滞后特征只用过去数据（shift 平移）、时间顺序划分防止未来泄漏、持续性基线作为最低比较。强调候选只比基线多学了一步，数据/划分/指标完全不变。结合代码说明 shift(lag) 与 shift(-1) 的防泄漏原理。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秒：指向 forecast.png 三条曲线（真实/基线/随机森林）。报主指标 MAE 0.794→0.577（-27%）、RMSE 1.112→0.796、高需求召回 0.184→0.132。解释数字由同一命令在同一测试段算出；用 largest_errors.csv 真实样本说明低谷被误报。强调“平均更准，但高需求漏报更多”。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秒：用失败案例收尾——2007-03-28 17:00 低谷被误报为高需求（误差 3.076 kW），说明平均指标掩盖极端时刻。明确证据不支持单户推广、电网控制或安全告警。下一项最小检查：加滚动均值特征后在同一测试段重跑。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预测下一小时家庭用电功率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72000"/>
            <a:ext cx="1116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2C39A"/>
                </a:solidFill>
                <a:latin typeface="Microsoft YaHei"/>
                <a:ea typeface="Microsoft YaHei"/>
              </a:rPr>
              <a:t>Day 3 · 时间序列回归 · 单户真实数据实验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1160000" cy="3960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D6F5EE"/>
                </a:solidFill>
                <a:latin typeface="Microsoft YaHei"/>
                <a:ea typeface="Microsoft YaHei"/>
              </a:rPr>
              <a:t>▸ 使用者：家庭能源研究小组 —— 提前看到用电变化，但不能依赖昂贵系统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D6F5EE"/>
                </a:solidFill>
                <a:latin typeface="Microsoft YaHei"/>
                <a:ea typeface="Microsoft YaHei"/>
              </a:rPr>
              <a:t>▸ 真实输入：一户家庭真实分钟级用电（UCI/Kaggle）→ 2,501 小时平均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D6F5EE"/>
                </a:solidFill>
                <a:latin typeface="Microsoft YaHei"/>
                <a:ea typeface="Microsoft YaHei"/>
              </a:rPr>
              <a:t>▸ 需要的输出：整点到来前，估计下一小时平均有功功率（kW）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D6F5EE"/>
                </a:solidFill>
                <a:latin typeface="Microsoft YaHei"/>
                <a:ea typeface="Microsoft YaHei"/>
              </a:rPr>
              <a:t>▸ 任务类型：时间序列回归 —— 预测连续数值，且必须保持时间先后顺序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D6F5EE"/>
                </a:solidFill>
                <a:latin typeface="Microsoft YaHei"/>
                <a:ea typeface="Microsoft YaHei"/>
              </a:rPr>
              <a:t>▸ 本日比较：持续性基线 vs 固定种子随机森林，同一真实测试段比 MAE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D6F5EE"/>
                </a:solidFill>
                <a:latin typeface="Microsoft YaHei"/>
                <a:ea typeface="Microsoft YaHei"/>
              </a:rPr>
              <a:t>▸ 产品边界：单户实验；不控制电器；不推广到其他家庭；不用于电网/安全告警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228000"/>
            <a:ext cx="111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8DDDD0"/>
                </a:solidFill>
                <a:latin typeface="Microsoft YaHei"/>
                <a:ea typeface="Microsoft YaHei"/>
              </a:rPr>
              <a:t>3 分钟答辩 · 第 1 页约 30 秒 · 只讲使用者、真实输入、输出与边界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2C39A"/>
                </a:solidFill>
                <a:latin typeface="Microsoft YaHei"/>
                <a:ea typeface="Microsoft YaHei"/>
              </a:rPr>
              <a:t>02 · 约 45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116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83B45"/>
                </a:solidFill>
                <a:latin typeface="Microsoft YaHei"/>
                <a:ea typeface="Microsoft YaHei"/>
              </a:rPr>
              <a:t>方法与核心概念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62000"/>
            <a:ext cx="1440000" cy="432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1188000"/>
            <a:ext cx="5544000" cy="2232000"/>
          </a:xfrm>
          <a:prstGeom prst="roundRect">
            <a:avLst/>
          </a:prstGeom>
          <a:solidFill>
            <a:srgbClr val="D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3A3A"/>
                </a:solidFill>
                <a:latin typeface="Microsoft YaHei"/>
                <a:ea typeface="Microsoft YaHei"/>
              </a:rPr>
              <a:t>① 滞后特征与目标（只用过去）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23A3A"/>
                </a:solidFill>
                <a:latin typeface="Microsoft YaHei"/>
                <a:ea typeface="Microsoft YaHei"/>
              </a:rPr>
              <a:t>· lag_1 / lag_2 / lag_3：前 1、2、3 小时的功率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23A3A"/>
                </a:solidFill>
                <a:latin typeface="Microsoft YaHei"/>
                <a:ea typeface="Microsoft YaHei"/>
              </a:rPr>
              <a:t>· lag_24：昨天同一小时，捕捉每日用电周期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23A3A"/>
                </a:solidFill>
                <a:latin typeface="Microsoft YaHei"/>
                <a:ea typeface="Microsoft YaHei"/>
              </a:rPr>
              <a:t>· hour_of_day：预测目标是几点（0–23）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23A3A"/>
                </a:solidFill>
                <a:latin typeface="Microsoft YaHei"/>
                <a:ea typeface="Microsoft YaHei"/>
              </a:rPr>
              <a:t>· target_next = shift(-1)：下一小时真实功率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23A3A"/>
                </a:solidFill>
                <a:latin typeface="Microsoft YaHei"/>
                <a:ea typeface="Microsoft YaHei"/>
              </a:rPr>
              <a:t>· 关键：特征全部来自过去，未来信息不进输入，防止目标泄漏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0" y="1188000"/>
            <a:ext cx="5184000" cy="2232000"/>
          </a:xfrm>
          <a:prstGeom prst="roundRect">
            <a:avLst/>
          </a:prstGeom>
          <a:solidFill>
            <a:srgbClr val="C9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3F5F"/>
                </a:solidFill>
                <a:latin typeface="Microsoft YaHei"/>
                <a:ea typeface="Microsoft YaHei"/>
              </a:rPr>
              <a:t>② 时间顺序与比较条件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73F5F"/>
                </a:solidFill>
                <a:latin typeface="Microsoft YaHei"/>
                <a:ea typeface="Microsoft YaHei"/>
              </a:rPr>
              <a:t>· 划分：前 80% 训练（1,980 小时）/ 后 20% 测试（496 小时）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73F5F"/>
                </a:solidFill>
                <a:latin typeface="Microsoft YaHei"/>
                <a:ea typeface="Microsoft YaHei"/>
              </a:rPr>
              <a:t>· 绝不随机打乱：随机打乱会让未来泄漏进训练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73F5F"/>
                </a:solidFill>
                <a:latin typeface="Microsoft YaHei"/>
                <a:ea typeface="Microsoft YaHei"/>
              </a:rPr>
              <a:t>· 基线：持续性 —— 下一小时 ≈ 最近一小时（零训练）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73F5F"/>
                </a:solidFill>
                <a:latin typeface="Microsoft YaHei"/>
                <a:ea typeface="Microsoft YaHei"/>
              </a:rPr>
              <a:t>· 候选：随机森林，固定 random_state=0，结果可复现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F5F"/>
                </a:solidFill>
                <a:latin typeface="Microsoft YaHei"/>
                <a:ea typeface="Microsoft YaHei"/>
              </a:rPr>
              <a:t>· 比较条件不变：同数据、同划分、同指标 MAE/RMSE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564000"/>
            <a:ext cx="11124000" cy="2988000"/>
          </a:xfrm>
          <a:prstGeom prst="roundRect">
            <a:avLst/>
          </a:prstGeom>
          <a:solidFill>
            <a:srgbClr val="12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2C39A"/>
                </a:solidFill>
                <a:latin typeface="Microsoft YaHei"/>
                <a:ea typeface="Microsoft YaHei"/>
              </a:rPr>
              <a:t>③ 核心代码 make_lagged() —— 滞后特征如何只用过去数据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def make_lagged(frame):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    ordered = frame.sort_values("timestamp")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    for lag in LAGS:            # 1, 2, 3, 24 小时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        ordered[f"lag_{lag}"] = ordered["global_active_power"].shift(lag)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    ordered["hour_of_day"] = ordered["timestamp"].dt.hour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    ordered["target_next"] = ordered["global_active_power"].shift(-1)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F7F4"/>
                </a:solidFill>
                <a:latin typeface="Consolas"/>
                <a:ea typeface="Microsoft YaHei"/>
              </a:rPr>
              <a:t>    return ordered.dropna()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E8F7F4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D6F5EE"/>
                </a:solidFill>
                <a:latin typeface="Microsoft YaHei"/>
                <a:ea typeface="Microsoft YaHei"/>
              </a:rPr>
              <a:t>原理：shift(lag) 把更早时刻的值“平移”成当前特征；shift(-1) 取下一小时作标签。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D6F5EE"/>
                </a:solidFill>
                <a:latin typeface="Microsoft YaHei"/>
                <a:ea typeface="Microsoft YaHei"/>
              </a:rPr>
              <a:t>训练时标签已知、预测时才用模型输出，因此不会把未来信息泄漏给特征。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DDDD0"/>
                </a:solidFill>
                <a:latin typeface="Consolas"/>
                <a:ea typeface="Microsoft YaHei"/>
              </a:rPr>
              <a:t>候选模型：build_candidate() -&gt; RandomForestRegressor(random_state=0)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2C39A"/>
                </a:solidFill>
                <a:latin typeface="Microsoft YaHei"/>
                <a:ea typeface="Microsoft YaHei"/>
              </a:rPr>
              <a:t>03 · 约 60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116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83B45"/>
                </a:solidFill>
                <a:latin typeface="Microsoft YaHei"/>
                <a:ea typeface="Microsoft YaHei"/>
              </a:rPr>
              <a:t>最重要证据：同条件下的基线与候选对比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62000"/>
            <a:ext cx="1440000" cy="432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188000"/>
            <a:ext cx="6443999" cy="2343272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68000" y="3600000"/>
            <a:ext cx="6443999" cy="324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9545B"/>
                </a:solidFill>
                <a:latin typeface="Microsoft YaHei"/>
                <a:ea typeface="Microsoft YaHei"/>
              </a:rPr>
              <a:t>图：首个留出周（168 小时）真实值 vs 持续性基线 vs 随机森林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0" y="1188000"/>
            <a:ext cx="4392000" cy="2340000"/>
          </a:xfrm>
          <a:prstGeom prst="roundRect">
            <a:avLst/>
          </a:prstGeom>
          <a:solidFill>
            <a:srgbClr val="18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C39A"/>
                </a:solidFill>
                <a:latin typeface="Microsoft YaHei"/>
                <a:ea typeface="Microsoft YaHei"/>
              </a:rPr>
              <a:t>主指标（测试段 496 小时）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MAE：基线 0.794 → 候选 0.577 kW（-27%）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RMSE：1.112 → 0.796 kW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高需求召回：0.184 → 0.132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阈值：训练目标 90 分位 = 3.162 kW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2C39A"/>
                </a:solidFill>
                <a:latin typeface="Microsoft YaHei"/>
                <a:ea typeface="Microsoft YaHei"/>
              </a:rPr>
              <a:t>结论：平均误差更低，但高需求漏报更多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" y="4031999"/>
            <a:ext cx="11124000" cy="1944000"/>
          </a:xfrm>
          <a:prstGeom prst="roundRect">
            <a:avLst/>
          </a:prstGeom>
          <a:solidFill>
            <a:srgbClr val="D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3A3A"/>
                </a:solidFill>
                <a:latin typeface="Microsoft YaHei"/>
                <a:ea typeface="Microsoft YaHei"/>
              </a:rPr>
              <a:t>这些数字怎样得到、表示什么？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命令：python analyze.py —— 在同一后段测试（2007-03 后 496 小时）同时算出基线与候选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MAE 含义：平均差多少 kW，越低越接近真实；RMSE 含义：对大误差加权，惩罚大偏差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召回率含义：真实高需求小时里有多少被正确报出（0.132 表示约八成高需求小时被漏报）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23A3A"/>
                </a:solidFill>
                <a:latin typeface="Microsoft YaHei"/>
                <a:ea typeface="Microsoft YaHei"/>
              </a:rPr>
              <a:t>· 真实样本：largest_errors.csv 第 1 行 —— 2007-03-28 17:00 真实 0.386 kW，模型却报 3.461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6120000"/>
            <a:ext cx="11124000" cy="432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2C39A"/>
                </a:solidFill>
                <a:latin typeface="Microsoft YaHei"/>
                <a:ea typeface="Microsoft YaHei"/>
              </a:rPr>
              <a:t>可复现：python analyze.py → forecast.png / metrics.json / largest_errors.csv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2C39A"/>
                </a:solidFill>
                <a:latin typeface="Microsoft YaHei"/>
                <a:ea typeface="Microsoft YaHei"/>
              </a:rPr>
              <a:t>04 · 约 45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116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83B45"/>
                </a:solidFill>
                <a:latin typeface="Microsoft YaHei"/>
                <a:ea typeface="Microsoft YaHei"/>
              </a:rPr>
              <a:t>失败、限制与下一问题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62000"/>
            <a:ext cx="1440000" cy="432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1188000"/>
            <a:ext cx="11124000" cy="1440000"/>
          </a:xfrm>
          <a:prstGeom prst="roundRect">
            <a:avLst/>
          </a:prstGeom>
          <a:solidFill>
            <a:srgbClr val="FBE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B3E16"/>
                </a:solidFill>
                <a:latin typeface="Microsoft YaHei"/>
                <a:ea typeface="Microsoft YaHei"/>
              </a:rPr>
              <a:t>一个真实失败：低谷被误报为高需求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3E16"/>
                </a:solidFill>
                <a:latin typeface="Microsoft YaHei"/>
                <a:ea typeface="Microsoft YaHei"/>
              </a:rPr>
              <a:t>2007-03-28 17:00：真实 0.386 kW，模型预测 3.461 kW（绝对误差 3.076 kW）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3E16"/>
                </a:solidFill>
                <a:latin typeface="Microsoft YaHei"/>
                <a:ea typeface="Microsoft YaHei"/>
              </a:rPr>
              <a:t>为什么失败：滞后特征只“记住”了相似历史小时，无法预知突发行为变化；平均指标掩盖了极端时刻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772000"/>
            <a:ext cx="3456000" cy="2951999"/>
          </a:xfrm>
          <a:prstGeom prst="roundRect">
            <a:avLst/>
          </a:prstGeom>
          <a:solidFill>
            <a:srgbClr val="D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3A3A"/>
                </a:solidFill>
                <a:latin typeface="Microsoft YaHei"/>
                <a:ea typeface="Microsoft YaHei"/>
              </a:rPr>
              <a:t>证据不支持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单户数据 → 其他家庭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不能用于电网控制 / 安全告警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不能推出行为变化的因果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A3A"/>
                </a:solidFill>
                <a:latin typeface="Microsoft YaHei"/>
                <a:ea typeface="Microsoft YaHei"/>
              </a:rPr>
              <a:t>· 单一样本不是“普遍不可靠”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000" y="2772000"/>
            <a:ext cx="3456000" cy="2951999"/>
          </a:xfrm>
          <a:prstGeom prst="roundRect">
            <a:avLst/>
          </a:prstGeom>
          <a:solidFill>
            <a:srgbClr val="C9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73F5F"/>
                </a:solidFill>
                <a:latin typeface="Microsoft YaHei"/>
                <a:ea typeface="Microsoft YaHei"/>
              </a:rPr>
              <a:t>方法限制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73F5F"/>
                </a:solidFill>
                <a:latin typeface="Microsoft YaHei"/>
                <a:ea typeface="Microsoft YaHei"/>
              </a:rPr>
              <a:t>· 固定滞后无法捕捉突发变化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73F5F"/>
                </a:solidFill>
                <a:latin typeface="Microsoft YaHei"/>
                <a:ea typeface="Microsoft YaHei"/>
              </a:rPr>
              <a:t>· 只有一户、一个季节窗口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73F5F"/>
                </a:solidFill>
                <a:latin typeface="Microsoft YaHei"/>
                <a:ea typeface="Microsoft YaHei"/>
              </a:rPr>
              <a:t>· 平均指标掩盖极端时刻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73F5F"/>
                </a:solidFill>
                <a:latin typeface="Microsoft YaHei"/>
                <a:ea typeface="Microsoft YaHei"/>
              </a:rPr>
              <a:t>· 高需求召回率只有 0.132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08000" y="2772000"/>
            <a:ext cx="3456000" cy="2951999"/>
          </a:xfrm>
          <a:prstGeom prst="roundRect">
            <a:avLst/>
          </a:prstGeom>
          <a:solidFill>
            <a:srgbClr val="FBE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25999" tIns="108000" bIns="10800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6B3E16"/>
                </a:solidFill>
                <a:latin typeface="Microsoft YaHei"/>
                <a:ea typeface="Microsoft YaHei"/>
              </a:rPr>
              <a:t>下一项最小检查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3E16"/>
                </a:solidFill>
                <a:latin typeface="Microsoft YaHei"/>
                <a:ea typeface="Microsoft YaHei"/>
              </a:rPr>
              <a:t>· 加入滚动均值特征（近 3 / 24 小时）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3E16"/>
                </a:solidFill>
                <a:latin typeface="Microsoft YaHei"/>
                <a:ea typeface="Microsoft YaHei"/>
              </a:rPr>
              <a:t>· 在同一测试段重跑，不换数据/划分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3E16"/>
                </a:solidFill>
                <a:latin typeface="Microsoft YaHei"/>
                <a:ea typeface="Microsoft YaHei"/>
              </a:rPr>
              <a:t>· 比较 MAE、最大误差、高需求召回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3E16"/>
                </a:solidFill>
                <a:latin typeface="Microsoft YaHei"/>
                <a:ea typeface="Microsoft YaHei"/>
              </a:rPr>
              <a:t>· 观察 3-28 17:00 样本是否仍被误报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903999"/>
            <a:ext cx="11124000" cy="503999"/>
          </a:xfrm>
          <a:prstGeom prst="rect">
            <a:avLst/>
          </a:prstGeom>
          <a:noFill/>
          <a:ln>
            <a:noFill/>
          </a:ln>
        </p:spPr>
        <p:txBody>
          <a:bodyPr wrap="square" lIns="108000" rIns="108000" tIns="72000" bIns="72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39545B"/>
                </a:solidFill>
                <a:latin typeface="Microsoft YaHei"/>
                <a:ea typeface="Microsoft YaHei"/>
              </a:rPr>
              <a:t>准备回答：代码追踪 · 指标 · 失败 · 智能体贡献 · 小变化预测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